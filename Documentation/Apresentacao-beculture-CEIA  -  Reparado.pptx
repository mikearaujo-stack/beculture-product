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4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81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0"/>
            <a:ext cx="320040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57232" y="2331720"/>
            <a:ext cx="1371600" cy="1371600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9857232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543032" y="3017520"/>
            <a:ext cx="0" cy="0"/>
          </a:xfrm>
          <a:prstGeom prst="line">
            <a:avLst/>
          </a:prstGeom>
          <a:noFill/>
          <a:ln w="15875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543032" y="3017520"/>
            <a:ext cx="960120" cy="0"/>
          </a:xfrm>
          <a:prstGeom prst="line">
            <a:avLst/>
          </a:prstGeom>
          <a:noFill/>
          <a:ln w="15875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543032" y="3017520"/>
            <a:ext cx="1280160" cy="502920"/>
          </a:xfrm>
          <a:prstGeom prst="line">
            <a:avLst/>
          </a:prstGeom>
          <a:noFill/>
          <a:ln w="15875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0543032" y="3017520"/>
            <a:ext cx="822960" cy="2194560"/>
          </a:xfrm>
          <a:prstGeom prst="line">
            <a:avLst/>
          </a:prstGeom>
          <a:noFill/>
          <a:ln w="15875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0543032" y="3017520"/>
            <a:ext cx="0" cy="1828800"/>
          </a:xfrm>
          <a:prstGeom prst="line">
            <a:avLst/>
          </a:prstGeom>
          <a:noFill/>
          <a:ln w="15875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308592" y="1097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1228832" y="13258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1548872" y="3246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1091672" y="49377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262872" y="45720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66928" y="1417320"/>
            <a:ext cx="457200" cy="128016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66928" y="1627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TÉCNICA · DOCUMENTO DE REQUISITOS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" y="2057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beculture</a:t>
            </a:r>
            <a:r>
              <a:rPr lang="en-US" sz="60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566928" y="3154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construir com a CEIA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66928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 de IA · SaaS B2B multi-tenant · Versão definitiva (produção)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5074920"/>
            <a:ext cx="7680960" cy="0"/>
          </a:xfrm>
          <a:prstGeom prst="line">
            <a:avLst/>
          </a:prstGeom>
          <a:noFill/>
          <a:ln w="12700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66928" y="5212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ao fornecedor de desenvolvimento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77240"/>
            <a:ext cx="457200" cy="128016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é um produto isolado. É a </a:t>
            </a:r>
            <a:r>
              <a:rPr lang="en-US" sz="40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plataforma-base de IA</a:t>
            </a: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 beculture.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fundação — </a:t>
            </a: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de agentes, chat, memória de longo prazo e injeção de contexto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sobre a qual vamos evoluir IA em todos os módulos do negócio (Performance, Learning, Hiring e Project Management).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2B4E7C"/>
          </a:solidFill>
          <a:ln w="12700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22960" y="5138928"/>
            <a:ext cx="219456" cy="219456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6128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Reutilizável por módulo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5020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2B4E7C"/>
          </a:solidFill>
          <a:ln w="12700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206240" y="5138928"/>
            <a:ext cx="219456" cy="219456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4456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por design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3348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2B4E7C"/>
          </a:solidFill>
          <a:ln w="12700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589520" y="5138928"/>
            <a:ext cx="219456" cy="219456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92784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 para escalar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PRODUTO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beculture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“business partner” de IA para empresas: um ambiente web onde líderes e equipes conversam com squads de especialistas de IA, recebem insights, consultam relatórios, conectam suas ferramentas e acumulam uma memória organizacional de longo prazo. Vendido como SaaS B2B multi-tenant, por assinatura de módulos, com trial self-service.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2697480"/>
            <a:ext cx="82296" cy="3246120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Cockpit de 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de agentes, chat com streaming, feed, insights, relatórios, memória da IA e conectores.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2142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422142" y="2697480"/>
            <a:ext cx="82296" cy="324612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78174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4E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78174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de negócio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78174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Learning, Hiring (recrutamento) e Project Management — vendáveis por assinatura.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277356" y="2697480"/>
            <a:ext cx="82296" cy="3246120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33388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3388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de integrações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3388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conectores corporativos + servidor MCP que clientes externos podem operar.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2570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132570" y="2697480"/>
            <a:ext cx="82296" cy="324612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388602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4E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88602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Camada comercial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88602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trial, onboarding, planos, precificação e cobrança via gateway.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pedimos à CEIA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82296" cy="4297680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86968" y="1828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Desenvolver a versão definitiva (produção)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46888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protótipo funcional (MVP) que valida todos os fluxos descritos — referência de comportamento e de experiência.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Especificamos o QUÊ (regras de negócio, fluxos, domínio, integrações e qualidade), não o COMO interno.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frontend é obrigatória; arquitetura de backend e infraestrutura ficam a critério técnico da CEIA.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com qualidade e segurança de SaaS comercial.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19088" y="1600200"/>
            <a:ext cx="5202936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19088" y="1600200"/>
            <a:ext cx="82296" cy="429768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39128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ler a especificação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39128" y="242316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39128" y="24231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RF-xx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22208" y="2377440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— o que o sistema faz.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39128" y="3264408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739128" y="326440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RNF-xx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22208" y="3218688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não-funcionais — qualidade esperada.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39128" y="4105656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739128" y="4105656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normativas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22208" y="4059936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Preços, planos e papéis: implementar exatamente.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39128" y="4946904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739128" y="494690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22208" y="4901184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completos + arquitetura de referência.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esta base primeiro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Squads, memória e injeção de contexto são construídos uma vez e reaproveitados por cada módulo. Cada novo módulo de negócio herda a inteligência da plataforma — não recomeça do zero.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6974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1F3A5F"/>
          </a:solidFill>
          <a:ln/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plataforma-base desta entrega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38862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&amp; agentes</a:t>
            </a:r>
            <a:endParaRPr lang="en-US" sz="13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em streaming</a:t>
            </a:r>
            <a:endParaRPr lang="en-US" sz="13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de longo prazo</a:t>
            </a:r>
            <a:endParaRPr lang="en-US" sz="13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 contexto + BYOK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4681728" y="3749040"/>
            <a:ext cx="2359152" cy="297180"/>
          </a:xfrm>
          <a:prstGeom prst="line">
            <a:avLst/>
          </a:prstGeom>
          <a:noFill/>
          <a:ln w="22225">
            <a:solidFill>
              <a:srgbClr val="12B5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V="1">
            <a:off x="4681728" y="2811780"/>
            <a:ext cx="2359152" cy="1234440"/>
          </a:xfrm>
          <a:prstGeom prst="line">
            <a:avLst/>
          </a:prstGeom>
          <a:noFill/>
          <a:ln w="22225">
            <a:solidFill>
              <a:srgbClr val="12B5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1728" y="4046220"/>
            <a:ext cx="2359152" cy="626364"/>
          </a:xfrm>
          <a:prstGeom prst="line">
            <a:avLst/>
          </a:prstGeom>
          <a:noFill/>
          <a:ln w="22225">
            <a:solidFill>
              <a:srgbClr val="12B5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81728" y="4046220"/>
            <a:ext cx="2359152" cy="1540764"/>
          </a:xfrm>
          <a:prstGeom prst="line">
            <a:avLst/>
          </a:prstGeom>
          <a:noFill/>
          <a:ln w="22225">
            <a:solidFill>
              <a:srgbClr val="12B5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608576" y="3973068"/>
            <a:ext cx="146304" cy="146304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040880" y="24688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040880" y="2468880"/>
            <a:ext cx="64008" cy="749808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995160" y="2798064"/>
            <a:ext cx="91440" cy="91440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315200" y="25877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0" y="28803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Avaliações, OKRs e 1:1s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3832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040880" y="3383280"/>
            <a:ext cx="64008" cy="749808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995160" y="3712464"/>
            <a:ext cx="91440" cy="91440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315200" y="35021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0" y="37947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de aprendizagem e LMS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42976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040880" y="4297680"/>
            <a:ext cx="64008" cy="749808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995160" y="4626864"/>
            <a:ext cx="91440" cy="91440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315200" y="44165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15200" y="47091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Vagas, triagem e pipeline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40880" y="52120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040880" y="5212080"/>
            <a:ext cx="64008" cy="749808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995160" y="5541264"/>
            <a:ext cx="91440" cy="91440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315200" y="53309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Management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315200" y="56235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 tarefas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40880" y="6035040"/>
            <a:ext cx="4581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herda a IA da plataforma — não recomeça do zero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versão definitiva entrega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68096" y="1874520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1600200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 err="1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(PJ e PF)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1600200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78524" y="1874520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78524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4596" y="1600200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Autenticação, multi-tenancy com isolamento total por empresa e controle de papéis.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68096" y="299923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2999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2724912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squads/agentes e chat com IA em streaming, com histórico persistente.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7356" y="2724912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78524" y="2999232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78524" y="2999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4596" y="2724912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de longo prazo da IA (corporativa e de usuário), injetada no contexto.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849624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68096" y="4123944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68096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44168" y="3849624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corporativos com OAuth real e servidor MCP autenticado por chave de API.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77356" y="3849624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78524" y="4123944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78524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54596" y="3849624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por tenant (BYOK), com fallback gerenciado durante o trial.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" y="4974336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68096" y="5248656"/>
            <a:ext cx="411480" cy="4114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68096" y="5248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44168" y="4974336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recorrente (Pix, cartão, boleto), faturas e controle de assinatura/paywall.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Fora de escopo nesta fase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82296" cy="123444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32688" y="1874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Telas internas dos módulos de negócio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21808" y="1920240"/>
            <a:ext cx="0" cy="77724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596128" y="169164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aprofundada de Performance, Learning, Hiring e PM além do descrito. O foco é a plataforma de IA + camada comercial + base multi-tenant que sustenta os módulos.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3108960"/>
            <a:ext cx="82296" cy="123444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32688" y="32918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Apps móveis nativos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321808" y="3337560"/>
            <a:ext cx="0" cy="77724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596128" y="310896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é web responsiva (desktop e mobile-web).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82296" cy="123444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32688" y="47091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Emissão fiscal (NF-e)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321808" y="4754880"/>
            <a:ext cx="0" cy="77724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596128" y="452628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Prevista para evolução, integrada ao gateway de pagamento.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desta versão: a base de IA + comercial + multi-tenant que torna a evolução dos módulos rápida e barata.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pilares funcionais da plataforma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441192" cy="77724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Squads &amp; agentes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41248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AGENTES-PERSONA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3886200"/>
            <a:ext cx="2892552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41248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squads × 5 agentes, cada um com prompt próprio e ~150 perguntas-modelo. Catálogo global, administrável; estado (fixados) por usuário.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3880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373880" y="1645920"/>
            <a:ext cx="3441192" cy="77724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48200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em streaming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8200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SSE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48200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 TOKEN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8200" y="3886200"/>
            <a:ext cx="2892552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648200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com squad ou agente; resposta em tempo real com cancelamento; histórico persistente, agrupamentos e documentos gerados.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0832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180832" y="1645920"/>
            <a:ext cx="3441192" cy="77724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455152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Memória de longo prazo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5152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455152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55152" y="3886200"/>
            <a:ext cx="2892552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455152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que personalizam as respostas. Corporativa vs. de usuário, com níveis de confiança e injeção hierárquica no contexto.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Memória de longo prazo da 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conhecimento de longo prazo da IA sobre a empresa. É o ativo reutilizável que personaliza todos os squads — e, no futuro, todos os módulos.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486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82296" cy="3520440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86968" y="2468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Injeção hierárquica no contexto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7048" y="28163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PRECEDÊNCIA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5568" y="3291840"/>
            <a:ext cx="0" cy="1975104"/>
          </a:xfrm>
          <a:prstGeom prst="line">
            <a:avLst/>
          </a:prstGeom>
          <a:noFill/>
          <a:ln w="25400">
            <a:solidFill>
              <a:srgbClr val="12B5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86968" y="3063240"/>
            <a:ext cx="457200" cy="4572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8696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7048" y="3063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Estratégica  </a:t>
            </a: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visão, posicionamento, direção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" y="3721608"/>
            <a:ext cx="457200" cy="4572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86968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27048" y="3721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Hierárquica  </a:t>
            </a: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estrutura e papéis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968" y="4379976"/>
            <a:ext cx="457200" cy="4572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86968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7048" y="43799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 </a:t>
            </a: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tema do squad em uso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" y="5038344"/>
            <a:ext cx="457200" cy="4572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86968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7048" y="5038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Histórica  </a:t>
            </a: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contexto acumulado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19088" y="22860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419088" y="2286000"/>
            <a:ext cx="64008" cy="77724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47688" y="23591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Corporativa vs. de usuário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47688" y="26700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Corporativa é só-leitura para membros (admin/owner gerenciam). De usuário, editável por quem criou.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19088" y="32004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19088" y="3200400"/>
            <a:ext cx="64008" cy="77724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647688" y="32735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Confiança e ativação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47688" y="35844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tem nível de confiança (alta/média/baixa); inativos não entram no contexto.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19088" y="41148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419088" y="4114800"/>
            <a:ext cx="64008" cy="77724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647688" y="41879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Temas dinâmicos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647688" y="44988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tema por squad (via slug) + 3 transversais fixos: Estratégico, Hierárquico, Histórico.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19088" y="50292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419088" y="5029200"/>
            <a:ext cx="64008" cy="77724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647688" y="51023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Orçamento de contexto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647688" y="54132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estima o consumo de tokens por memória e o total das ativas.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Conectores e servidor MCP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82296" cy="402336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Catálogo de conectores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3566160"/>
            <a:ext cx="2892552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41248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corporativos por categoria (comunicação, RH &amp; folha, recrutamento, projetos, BI, CRM e mais). Estado conectado por empresa, com origem registrada (app, MCP ou OAuth).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3880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373880" y="1691640"/>
            <a:ext cx="82296" cy="402336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48200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1→N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48200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OAuth real — piloto Slack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48200" y="3566160"/>
            <a:ext cx="2892552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648200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OAuth completo: state assinado, token cifrado por empresa, operações reais (listar canais, enviar mensagem). Molde para os demais conectores.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0832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180832" y="1691640"/>
            <a:ext cx="82296" cy="4023360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455152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93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455152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Servidor MCP — vendável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55152" y="3566160"/>
            <a:ext cx="2892552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455152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MCP autenticado por chave de API por empresa; ferramentas escopadas ao tenant. Clientes externos de IA operam a conta da empresa com segurança.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MCP é um produto vendável: a beculture se torna uma plataforma de integrações, não apenas um app.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obrigatória e restrições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4937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82296" cy="4114800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86968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— OBRIGATÓRIO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240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substituível sem aprovação formal.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6968" y="274320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15568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3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3182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UI (SPA)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" y="370332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15568" y="38130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3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4142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utility-first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" y="466344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15568" y="4773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3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+ TypeScript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51023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nas regras de negócio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70448" y="1645920"/>
            <a:ext cx="575157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870448" y="1645920"/>
            <a:ext cx="82296" cy="4114800"/>
          </a:xfrm>
          <a:prstGeom prst="rect">
            <a:avLst/>
          </a:prstGeom>
          <a:solidFill>
            <a:srgbClr val="2B4E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190488" y="1874520"/>
            <a:ext cx="5202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Restrições gerais — backend a critério da CEIA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0488" y="2377440"/>
            <a:ext cx="511149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stateless e horizontalmente escalável; auth por token, autorização por papel/tenant.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como fonte de verdade transacional (NoSQL/cache complementam).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IA (ex.: SSE) com cancelamento.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MCP público, autenticado por chave de API por empresa.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cifrados em repouso (chaves de IA, tokens OAuth), geríveis por KMS.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conteinerizada, ambientes separados, migrações versionadas e </a:t>
            </a:r>
            <a:r>
              <a:rPr lang="en-US" sz="1300" dirty="0" err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5E7186"/>
                </a:solidFill>
                <a:latin typeface="Calibri" pitchFamily="34" charset="0"/>
                <a:cs typeface="Calibri" pitchFamily="34" charset="-120"/>
              </a:rPr>
              <a:t>Trabalhamos</a:t>
            </a:r>
            <a:r>
              <a:rPr lang="en-US" sz="1300" dirty="0">
                <a:solidFill>
                  <a:srgbClr val="5E7186"/>
                </a:solidFill>
                <a:latin typeface="Calibri" pitchFamily="34" charset="0"/>
                <a:cs typeface="Calibri" pitchFamily="34" charset="-120"/>
              </a:rPr>
              <a:t> com .NET, seria a </a:t>
            </a:r>
            <a:r>
              <a:rPr lang="en-US" sz="1300" dirty="0" err="1">
                <a:solidFill>
                  <a:srgbClr val="5E7186"/>
                </a:solidFill>
                <a:latin typeface="Calibri" pitchFamily="34" charset="0"/>
                <a:cs typeface="Calibri" pitchFamily="34" charset="-120"/>
              </a:rPr>
              <a:t>linguagem</a:t>
            </a:r>
            <a:r>
              <a:rPr lang="en-US" sz="1300" dirty="0">
                <a:solidFill>
                  <a:srgbClr val="5E7186"/>
                </a:solidFill>
                <a:latin typeface="Calibri" pitchFamily="34" charset="0"/>
                <a:cs typeface="Calibri" pitchFamily="34" charset="-120"/>
              </a:rPr>
              <a:t> ideal para o backend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Multi-tenancy, papéis e LGPD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441192" cy="6858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Isolamento total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dado pertence a uma empresa e é isolado entre tenants.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derivado da identidade do servidor — nunca de parâmetros do cliente.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globais; estado por empresa/usuário.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3880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373880" y="1691640"/>
            <a:ext cx="3441192" cy="6858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8200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Papéis e permissões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6488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controle total (billing, convites, papéis, chaves).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privilégios delegados.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— chat, memórias próprias, leitura.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0832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180832" y="1691640"/>
            <a:ext cx="3441192" cy="6858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55152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 &amp; LGPD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3440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cifrados em repouso; chaves MCP só-hash.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LGPD (consentimento, retenção, exclusão).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forte de senha; proteção de rotas.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Faseamento sugerido (não-vinculante)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0"/>
          </a:xfrm>
          <a:prstGeom prst="line">
            <a:avLst/>
          </a:prstGeom>
          <a:noFill/>
          <a:ln w="254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98118" y="15453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Fundações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" y="3246120"/>
            <a:ext cx="1552651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68096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auth/papéis, </a:t>
            </a:r>
            <a:r>
              <a:rPr lang="en-US" sz="1150" dirty="0" err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73145" y="1545336"/>
            <a:ext cx="292608" cy="292608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841955" y="1920240"/>
            <a:ext cx="1954987" cy="3383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043123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43123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Núcleo de 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43123" y="3246120"/>
            <a:ext cx="1552651" cy="0"/>
          </a:xfrm>
          <a:prstGeom prst="line">
            <a:avLst/>
          </a:prstGeom>
          <a:noFill/>
          <a:ln w="12700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43123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e agentes, chat em streaming, histórico e projetos, memória de longo prazo, BYOK + fallback de trial.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8172" y="15453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116982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318150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18150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18150" y="3246120"/>
            <a:ext cx="1552651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318150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conectores, OAuth (Slack piloto), servidor MCP com chaves por empresa.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3199" y="15453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392010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593178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93178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Conteúdo &amp; analytics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93178" y="3246120"/>
            <a:ext cx="1552651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593178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relatórios, documentos; área administrativa de catálogos e preços.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98226" y="1545336"/>
            <a:ext cx="292608" cy="292608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9667037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blurRad="114300" dist="38100" dir="8100000" algn="bl" rotWithShape="0">
              <a:srgbClr val="0F244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868205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68205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Evoluções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868205" y="3246120"/>
            <a:ext cx="1552651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868205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SSO/SAML (Expert), NF-e, OAuth no MCP, novos conectores e módulos aprofundados.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55778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Fase 2 é a base de IA que reaproveitamos em todos os módulos.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77240"/>
            <a:ext cx="457200" cy="128016"/>
          </a:xfrm>
          <a:prstGeom prst="rect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ESPERAMOS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 base de IA sólida, segura e reutilizável.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 w="12700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41248" y="2880360"/>
            <a:ext cx="201168" cy="201168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Qualidade de SaaS comercial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Segurança, isolamento por tenant, observabilidade e desempenho desde o primeiro dia.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 w="12700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8200" y="2880360"/>
            <a:ext cx="201168" cy="201168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8200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Fidelidade ao escopo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8200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conforme a stack obrigatória; tabelas normativas implementadas exatamente.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0832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F3A5F"/>
          </a:solidFill>
          <a:ln w="12700">
            <a:solidFill>
              <a:srgbClr val="3E5C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455152" y="2880360"/>
            <a:ext cx="201168" cy="201168"/>
          </a:xfrm>
          <a:prstGeom prst="ellipse">
            <a:avLst/>
          </a:prstGeom>
          <a:solidFill>
            <a:srgbClr val="12B5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55152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Pensada para evoluir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5152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Memória, squads e contexto reaproveitáveis pelos módulos de negócio.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846320"/>
            <a:ext cx="256032" cy="146304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32688" y="477316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Leitura da especificação técnica completa (.docx)    2. Alinhamento de dúvidas e premissas    3. Proposta de plano e cronograma por fase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4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beculture · A plataforma-base de IA sobre a qual tudo o mais é construído.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1627</Words>
  <Application>Microsoft Macintosh PowerPoint</Application>
  <PresentationFormat>Widescreen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beculture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beculture — Especificação para Desenvolvimento (CEIA)</dc:title>
  <dc:subject>PptxGenJS Presentation</dc:subject>
  <dc:creator>beculture</dc:creator>
  <cp:lastModifiedBy>Roan Santos</cp:lastModifiedBy>
  <cp:revision>2</cp:revision>
  <dcterms:created xsi:type="dcterms:W3CDTF">2026-06-20T14:09:40Z</dcterms:created>
  <dcterms:modified xsi:type="dcterms:W3CDTF">2026-06-20T14:16:18Z</dcterms:modified>
</cp:coreProperties>
</file>